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EFE4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F4EFE4"/>
                </a:solidFill>
                <a:latin typeface="Malgun Gothic"/>
              </a:rPr>
              <a:t>막별 스텝 배분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스텝 수</c:v>
                </c:pt>
              </c:strCache>
            </c:strRef>
          </c:tx>
          <c:spPr>
            <a:solidFill>
              <a:srgbClr val="D3AC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EFE4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00 준비 — 지금의 나</c:v>
                  </c:pt>
                  <c:pt idx="1">
                    <c:v>01 왼손이 코드를 세운다</c:v>
                  </c:pt>
                  <c:pt idx="2">
                    <c:v>02 손이 노래하기 시작한다</c:v>
                  </c:pt>
                  <c:pt idx="3">
                    <c:v>03 색을 입힌다</c:v>
                  </c:pt>
                  <c:pt idx="4">
                    <c:v>04 양손이 나뉜다</c:v>
                  </c:pt>
                  <c:pt idx="5">
                    <c:v>05 즉흥이 시작된다</c:v>
                  </c:pt>
                  <c:pt idx="6">
                    <c:v>06 한 곡을 완주한다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EFE4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AE9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454C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0242C"/>
        </a:solidFill>
        <a:ln>
          <a:noFill/>
        </a:ln>
        <a:effectLst/>
      </c:spPr>
    </c:plotArea>
    <c:plotVisOnly val="1"/>
    <c:dispBlanksAs val="span"/>
  </c:chart>
  <c:spPr>
    <a:solidFill>
      <a:srgbClr val="20242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루앤루는 코드는 알지만 재즈로 연주하지 못하는 성인 학습자를 위한 자체완결형 정적 웹앱입니다. 이 덱은 기획 의도와 실제 사용법을 함께 담았으며, 모든 수치와 화면 설명은 실제 서비스를 띄워 확인한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8229600" cy="8229600"/>
          </a:xfrm>
          <a:prstGeom prst="roundRect">
            <a:avLst>
              <a:gd name="adj" fmla="val 5556"/>
            </a:avLst>
          </a:prstGeom>
          <a:solidFill>
            <a:srgbClr val="2A2F38">
              <a:alpha val="50000"/>
            </a:srgbClr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1444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ROOTS &amp; ROUTES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792224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루앤루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9809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재즈 피아노 통합 학습 서비스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51129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아는 데서 멈춘 학습자를, 리얼북 한 곡을 연주하는 데까지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7824" y="4187952"/>
            <a:ext cx="2834640" cy="0"/>
          </a:xfrm>
          <a:prstGeom prst="line">
            <a:avLst/>
          </a:prstGeom>
          <a:noFill/>
          <a:ln w="15875">
            <a:solidFill>
              <a:srgbClr val="9A83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43708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 &amp; 사용 매뉴얼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80974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전환의 사다리 · 21스텝 연습 코스 · 외부 의존성 0의 정적 웹앱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5468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9801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32304" y="5468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432304" y="59801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5468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59801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모듈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14416" y="54681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59801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62956" cy="3913632"/>
          </a:xfrm>
          <a:prstGeom prst="roundRect">
            <a:avLst>
              <a:gd name="adj" fmla="val 140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22128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505456"/>
            <a:ext cx="45765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69264" y="31821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3163824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목적과 풀려는 문제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785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767328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— 전환의 사다리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9264" y="4389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426464" y="437083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21스텝 연습 코스로의 재구성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9264" y="49926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974336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· 기술 구조 · 검증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9068" y="1920240"/>
            <a:ext cx="5362956" cy="3913632"/>
          </a:xfrm>
          <a:prstGeom prst="roundRect">
            <a:avLst>
              <a:gd name="adj" fmla="val 140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61404" y="22128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61404" y="2505456"/>
            <a:ext cx="45765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매뉴얼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6661404" y="31821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61404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118604" y="3163824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· 화면 5개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61404" y="37856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61404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18604" y="3767328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사용법과 스텝 읽는 법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61404" y="4389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61404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118604" y="437083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규칙과 검수 루프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61404" y="49926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61404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18604" y="4974336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지도 · 막힐 때 · 졸업 이후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루앤루 · Roots &amp; Routes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서비스는 무엇에 쓰나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콘텐츠를 파는 서비스가 아닙니다. 혼자 연습하는 사람의 「오늘의 연습 지시서」이자, 그 연습을 검수받는 루프입니다.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408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26771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매일의 연습 지시서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88336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피아노 앞에 앉아 무엇을 몇 분 어떻게 칠지 정해 줍니다. 고를 필요가 없습니다.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2066544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3408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9BBBD3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226771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자료의 순서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88336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유튜브·교재·음원을 한 줄기 커리큘럼으로 꿰어 「뭘 먼저 보지」를 없앱니다.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066544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234086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9C098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226771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넘어갈 때의 판단 기준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688336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3개로 진도를 스스로 판정합니다. 날짜가 아니라 실력으로 넘어갑니다.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931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BA478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5568" y="385876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검수받는 루프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" y="42793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연습일지를 복사해 채팅에 붙여넣으면 재즈 교수 관점의 처방을 받습니다.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06824" y="3657600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3931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55464" y="385876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레퍼토리 확장 엔진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42793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 후 같은 사이클을 새 곡에 반복해 곡을 하나씩 늘립니다.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75304" cy="1389888"/>
          </a:xfrm>
          <a:prstGeom prst="roundRect">
            <a:avLst>
              <a:gd name="adj" fmla="val 3947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28" y="39319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4AE9F"/>
          </a:solidFill>
          <a:ln w="12700">
            <a:solidFill>
              <a:srgbClr val="B4AE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0" y="385876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쓰는 도구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339328" y="4279392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로그인·서버·네트워크 없이 브라우저 하나로 완결됩니다.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358384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" y="5358384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방식은 하나입니다 — </a:t>
            </a:r>
            <a:pPr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홈을 열고, 오늘 스텝 한 장대로 치고, 통과 기준을 체크한다.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코드는 알지만 보이싱·컴핑·즉흥이 막힌 성인 학습자 (독학 또는 레슨 병행)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아는데, 재즈로 못 친다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이론을 몰라서가 아니라 순서가 없어서 좌초합니다. 유튜브에 답은 다 있지만 무엇을 먼저 볼지 아무도 알려주지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6654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3042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손의 역할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4320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양손이 같은 코드를 동시에 누른다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06824" y="206654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042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74320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음을 생략·재배치할 줄 모른다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06654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3042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9328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2286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컴핑 리듬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74320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정박에 뭉텅이로 누른다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52958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7673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스윙 필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4206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8분음표를 클래식처럼 균등하게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06824" y="352958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37673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9432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206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쳐야 할지 전무하다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46720" y="3529584"/>
            <a:ext cx="3575304" cy="1261872"/>
          </a:xfrm>
          <a:prstGeom prst="roundRect">
            <a:avLst>
              <a:gd name="adj" fmla="val 434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37673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39328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14816" y="3749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 적용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4206240"/>
            <a:ext cx="2990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리얼북을 펴면 막막하다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5838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유튜브엔 답이 다 있는 것 같은데, 순서가 없어서 매번 좌초한다.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docs/00_persona_and_journey.md — 페르소나 통증 6개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설계의 기준점 — 페르소나 루아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초보가 아니라 아주 구체적인 한 사람을 기준으로 모든 난이도와 콘텐츠 순서를 결정했습니다.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4956048" cy="3785616"/>
          </a:xfrm>
          <a:prstGeom prst="roundRect">
            <a:avLst>
              <a:gd name="adj" fmla="val 144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322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루아 (Lua)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779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클래식 피아노를 오래 친 성인 학습자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23697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배경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3182112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체르니 100 · 양손 독립 · 초견 가능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8587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머리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700784" y="3803904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Cmaj7 = C·E·G·B 를 즉석에서 쌓는다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48056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손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700784" y="442569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루트 + 오른손 블록, 코드마다 점프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510235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700784" y="5047488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곡을 인트로–테마–솔로–엔딩까지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79008" y="2048256"/>
            <a:ext cx="5843016" cy="1554480"/>
          </a:xfrm>
          <a:prstGeom prst="roundRect">
            <a:avLst>
              <a:gd name="adj" fmla="val 352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44768" y="2286000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한 문장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2578608"/>
            <a:ext cx="51114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루아는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안다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멈춰 있고,
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재즈로 연주한다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못 건너간다.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9008" y="3749040"/>
            <a:ext cx="5843016" cy="2084832"/>
          </a:xfrm>
          <a:prstGeom prst="roundRect">
            <a:avLst>
              <a:gd name="adj" fmla="val 2632"/>
            </a:avLst>
          </a:prstGeom>
          <a:solidFill>
            <a:srgbClr val="2A2F38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3968496"/>
            <a:ext cx="5111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서비스의 존재 이유는 그 다리 하나입니다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4370832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화면·난이도·순서를 루아 한 사람 기준으로 결정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후 루아 페르소나 에이전트로 막히는 지점을 재검증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성패 지표는 하나 — 루아가 한 곡을 끝까지 혼자 연주하는가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.claude/agents/lua-jazz-student.md — 검증용 페르소나 에이전트로 정식 등록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현재에서 목표까지 — 서비스가 채우는 다리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502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루아의 손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97396" y="1828800"/>
            <a:ext cx="502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수준급 연주자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31136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양손이 같은 코드를 누름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46420" y="2231136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97396" y="2231136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35140" y="2231136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화성 · 오른손 멜로디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52928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52928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근음위치 4음 블록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46420" y="2852928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7396" y="2852928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5140" y="2852928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→ 가이드톤 → 루트리스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74720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정박에 뭉텅이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46420" y="3474720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97396" y="3474720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5140" y="3474720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찰스턴 · 앞당김 · 여백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096512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096512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멜로디만 또는 블록만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46420" y="4096512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97396" y="4096512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5140" y="4096512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드롭2 · 블록코드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718304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718304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 전무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46420" y="4718304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97396" y="4718304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5140" y="4718304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코드톤 → 가이드톤 → 스케일 → 릭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340096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340096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리얼북 펴면 막막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46420" y="5340096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597396" y="5340096"/>
            <a:ext cx="5024628" cy="512064"/>
          </a:xfrm>
          <a:prstGeom prst="roundRect">
            <a:avLst>
              <a:gd name="adj" fmla="val 10714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35140" y="5340096"/>
            <a:ext cx="45674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곡 완주 로드맵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행이 그대로 커리큘럼의 한 구간이 됩니다 — 갭이 학습 단계로 번역됩니다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DESIGN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전환의 사다리 — 같은 ii–V–I, 8개의 계단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루아는 백지가 아닙니다. 이미 치는 것에서 딱 한 계단씩만 바꿉니다. C장조 Dm7 – G7 – Cmaj7 하나로 전부 보여줍니다.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267712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나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24912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근음위치 블록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8708" y="2048256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6452" y="2286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645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73652" y="2267712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분리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16452" y="2724912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루트 / 오른손 코드톤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0488" y="2048256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286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823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2267712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2724912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+ 3도 + 7도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2268" y="2048256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0012" y="2286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0012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7212" y="2267712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가이드톤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724912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3·7만 — 손이 안 움직인다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566160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3785616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루트리스 A/B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242816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 4성부 + 텐션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78708" y="3566160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6452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6452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073652" y="3785616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3616452" y="4242816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멜로디를 얹어 분업 완성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90488" y="3566160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8232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28232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85432" y="3785616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428232" y="4242816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찰스턴 · 앞당김 · 여백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02268" y="3566160"/>
            <a:ext cx="261975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40012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40012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697212" y="3785616"/>
            <a:ext cx="16870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9240012" y="4242816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코드톤 → 스케일 → 릭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6928" y="5175504"/>
            <a:ext cx="11055096" cy="768096"/>
          </a:xfrm>
          <a:prstGeom prst="roundRect">
            <a:avLst>
              <a:gd name="adj" fmla="val 7143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6112" y="5175504"/>
            <a:ext cx="103967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rung 3 (가이드톤)</a:t>
            </a:r>
            <a:pPr indent="0" marL="0">
              <a:buNone/>
            </a:pPr>
            <a:r>
              <a:rPr lang="en-US" sz="14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서비스 전체의 아하 모먼트입니다 — 손이 점프를 멈추고 노래하기 시작하는 순간.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8단계 전부를 외부 라이브러리 없이 자체 SVG 건반 렌더러(assets/music.js)로 시각화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AHA MOMENT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rung 3 · 가이드톤 보이스리딩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셸에서 루트를 빼면 3도와 7도만 남습니다. 그 두 음을 가장 가까운 길로 이으면 손이 거의 움직이지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21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Dm7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2807208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C</a:t>
            </a:r>
            <a:endParaRPr lang="en-US" sz="1500" dirty="0"/>
          </a:p>
        </p:txBody>
      </p:sp>
      <p:pic>
        <p:nvPicPr>
          <p:cNvPr id="8" name="Image 0" descr="C:\Users\hayoung\AppData\Local\Temp\claude\C--Users-hayoung-Desktop----\51cac024-9584-4ec5-977b-3384e69d5bc9\scratchpad\deck\kbd_r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60320"/>
            <a:ext cx="2880360" cy="8907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354253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014216" y="1975104"/>
            <a:ext cx="347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79976" y="1975104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54296" y="2121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G7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620256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B</a:t>
            </a:r>
            <a:endParaRPr lang="en-US" sz="1500" dirty="0"/>
          </a:p>
        </p:txBody>
      </p:sp>
      <p:pic>
        <p:nvPicPr>
          <p:cNvPr id="14" name="Image 1" descr="C:\Users\hayoung\AppData\Local\Temp\claude\C--Users-hayoung-Desktop----\51cac024-9584-4ec5-977b-3384e69d5bc9\scratchpad\deck\kbd_r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560320"/>
            <a:ext cx="2880360" cy="89077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4296" y="354253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→ B 반음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827264" y="1975104"/>
            <a:ext cx="347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93024" y="1975104"/>
            <a:ext cx="3429000" cy="2103120"/>
          </a:xfrm>
          <a:prstGeom prst="roundRect">
            <a:avLst>
              <a:gd name="adj" fmla="val 260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67344" y="21214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Cmaj7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10433304" y="21214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· B</a:t>
            </a:r>
            <a:endParaRPr lang="en-US" sz="1500" dirty="0"/>
          </a:p>
        </p:txBody>
      </p:sp>
      <p:pic>
        <p:nvPicPr>
          <p:cNvPr id="20" name="Image 2" descr="C:\Users\hayoung\AppData\Local\Temp\claude\C--Users-hayoung-Desktop----\51cac024-9584-4ec5-977b-3384e69d5bc9\scratchpad\deck\kbd_r3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560320"/>
            <a:ext cx="2880360" cy="89077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67344" y="354253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→ E 반음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66928" y="4151376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서비스가 실제로 그리는 건반 그림 (파란 건반 = 왼손)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66928" y="4498848"/>
            <a:ext cx="3429000" cy="1335024"/>
          </a:xfrm>
          <a:prstGeom prst="roundRect">
            <a:avLst>
              <a:gd name="adj" fmla="val 411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4681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반음 두 번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" y="5084064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코드를 지나는 동안의 이동 총량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379976" y="4498848"/>
            <a:ext cx="3429000" cy="1335024"/>
          </a:xfrm>
          <a:prstGeom prst="roundRect">
            <a:avLst>
              <a:gd name="adj" fmla="val 411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36008" y="4681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→ 3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4636008" y="5084064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5도권 진행에서 7도는 다음 코드의 3도로 반음 해결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193024" y="4498848"/>
            <a:ext cx="3429000" cy="1335024"/>
          </a:xfrm>
          <a:prstGeom prst="roundRect">
            <a:avLst>
              <a:gd name="adj" fmla="val 411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449056" y="46817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 제자리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8449056" y="5084064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공통음은 그대로 — 이것이 보이스리딩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근거: Berklee 화성학 + Mark Levine 『The Jazz Piano Book』 — 음이름까지 대조 검증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콘텐츠는 충분했지만, 실행 층이 없었다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피드백: "방대한 내용이 분산돼 있고, 정작 연습 단계가 어려워 뭘 봐야 할지 모르겠다."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5298948" cy="3584448"/>
          </a:xfrm>
          <a:prstGeom prst="roundRect">
            <a:avLst>
              <a:gd name="adj" fmla="val 153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94560"/>
            <a:ext cx="4567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87168"/>
            <a:ext cx="45674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9개 · 자료는 있고 순서가 없다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017520"/>
            <a:ext cx="45308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사다리는 "이런 게 있다"에서 끝남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즉흥까지 어떻게 확장되는지 안 보임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디코더의 "1주차: 셸로 전 코드"가 지시가 아님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뭘 몇 분 칠지 아무도 안 알려줌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다음으로 넘어갈지 기준 없음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975104"/>
            <a:ext cx="5298948" cy="3584448"/>
          </a:xfrm>
          <a:prstGeom prst="roundRect">
            <a:avLst>
              <a:gd name="adj" fmla="val 1531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88836" y="2194560"/>
            <a:ext cx="4567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88836" y="2487168"/>
            <a:ext cx="45674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5개 · 하루치 연습 단위 21개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07124" y="3017520"/>
            <a:ext cx="45308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· 이론 · 곡 · 강의 · 감상을 한 스텝에 묶음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단위 드릴로 "오늘 뭘 칠지"를 지정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3개로 넘어갈 시점을 판정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자료실 화면을 없애고 스텝 안에 접이식으로 인라인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도달성 100% — 버려진 자료 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데이터(content.js)는 그대로 두고, 실행 레이어(course.js)를 새로 얹는 방식으로 재구성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DESIGN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21개의 하루치 연습 단위 · 7막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15~40분 · 스텝당 며칠~2주 · 전체 약 4~6개월. 위에서 아래로만 가면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75104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975104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지금의 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13632" y="197510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기준선을 잰다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19751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스텝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51176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51176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551176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왼손이 코드를 세운다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2551176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셸로 화성이 선다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2551176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스텝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127248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127248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127248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노래하기 시작한다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2724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가이드톤 — 아하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53328" y="3127248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스텝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03320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703320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703320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입힌다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13632" y="3703320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루트리스 A/B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3703320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스텝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279392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279392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양손이 나뉜다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13632" y="4279392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멜로디 + 컴핑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053328" y="4279392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스텝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4855464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855464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4855464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즉흥이 시작된다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913632" y="485546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코드톤에서 블루스까지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053328" y="485546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스텝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431536"/>
            <a:ext cx="6675120" cy="484632"/>
          </a:xfrm>
          <a:prstGeom prst="roundRect">
            <a:avLst>
              <a:gd name="adj" fmla="val 11321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5431536"/>
            <a:ext cx="420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61872" y="5431536"/>
            <a:ext cx="2615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곡을 완주한다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913632" y="5431536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인트로–테마–솔로–엔딩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053328" y="5431536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스텝</a:t>
            </a:r>
            <a:endParaRPr lang="en-US" sz="11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7516368" y="1920240"/>
          <a:ext cx="4105656" cy="3675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 02(가이드톤)에 가장 많은 스텝을 배치 — 아하 모먼트를 확실히 통과시키기 위한 의도적 배분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한 장에 들어 있는 것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화면의 위→아래 순서 그대로입니다. 따로 찾아다닐 필요가 없습니다.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217627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이걸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스텝에서 뭘 했고 이게 어디로 이어지는지 — 흐름이 끊기지 않는다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1975104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17627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연습하세요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단위 드릴. 워밍업 3분, 본드릴 7분, 곡 적용 5분 식으로 시간까지 지정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975104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194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02752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217627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스텝의 보이싱을 실제 SVG 건반으로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328416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547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43584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어느 구간을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리얼북 곡의 몇 마디를 어떻게 — 곡이 있는 스텝에만 (21개 중 14개)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06824" y="3328416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3547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62856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A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강의는 이 한 편만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62856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피로를 없애기 위해 딱 1편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328416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3547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0275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A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723376" y="3529584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들을 것 · 1곡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전후 5분, 귀를 그 스텝에 맞추는 감상 1곡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4681728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901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B4AE9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A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243584" y="4882896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스텝에서 실제로 막히는 지점의 Q/A + 흔한 실수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06824" y="4681728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62856" y="4901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62856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C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983480" y="4882896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4562856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3개가 다 체크되면 다음 스텝. 날짜가 아니라 기준으로 넘어간다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46720" y="4681728"/>
            <a:ext cx="3575304" cy="1170432"/>
          </a:xfrm>
          <a:prstGeom prst="roundRect">
            <a:avLst>
              <a:gd name="adj" fmla="val 468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2752" y="4901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0242C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02752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723376" y="4882896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 (접힘)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8302752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전문 · 사다리 rung 전문 · 곡 7단계 분해 — 안 열어도 됨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 STEP 8(Autumn Leaves)에서 확인한 섹션 순서 — 곡이 없는 스텝은 4번이 빠집니다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들어 있나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0848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스텝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6824" y="19202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848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3A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타임박스 드릴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7616" y="20848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9C0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83464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493008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639312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모듈 (Lv.0–4)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71850" y="3493008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7882" y="3639312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627882" y="4114800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리얼북 곡 완전 분해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6772" y="3493008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32804" y="3639312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432804" y="4114800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스탠다드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81694" y="3493008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7726" y="3639312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237726" y="4114800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유튜브 강의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718304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64608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340096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지형도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71850" y="4718304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27882" y="4864608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3627882" y="5340096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시대별 감상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6772" y="4718304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2804" y="4864608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6432804" y="5340096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계단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81694" y="4718304"/>
            <a:ext cx="2640330" cy="1060704"/>
          </a:xfrm>
          <a:prstGeom prst="roundRect">
            <a:avLst>
              <a:gd name="adj" fmla="val 5172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37726" y="4864608"/>
            <a:ext cx="21282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9237726" y="5340096"/>
            <a:ext cx="212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필청 음반·트랙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실행 중인 서비스의 데이터에서 직접 집계 — 콘텐츠 도달성 100% 검증 완료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구조 — 외부 의존성 0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빌드도 서버도 계정도 없습니다. index.html을 열면 끝이고, 진도와 일지는 브라우저에 남습니다.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75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36976" y="197510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진입 — 마스트헤드 · 내비 · 스크립트 로드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5237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A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assets/theme.css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36976" y="252374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 (Blue Note 다크 + 브라스)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07238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3072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assets/music.js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307238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건반 렌더러 + 음악 헬퍼 — 외부 라이브러리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62102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assets/content.js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36976" y="362102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단일 진실원 — 사다리 · 모듈 · 곡 · 강의 · 감상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6966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169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assets/course.js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36976" y="416966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레이어 — 21스텝 (id 참조만, 콘텐츠 복제 0)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1830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718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A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assets/videos.js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36976" y="471830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유튜브 영상 ID 매핑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66944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52669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assets/app.js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36976" y="526694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 라우터 + 뷰 렌더러 + 진도 추적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90688" y="1975104"/>
            <a:ext cx="3831336" cy="1773936"/>
          </a:xfrm>
          <a:prstGeom prst="roundRect">
            <a:avLst>
              <a:gd name="adj" fmla="val 3093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01584" y="215798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설계 원칙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2487168"/>
            <a:ext cx="3209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course.js는 콘텐츠를 복제하지 않고 id로만 참조합니다. 건반·코드 진행·강의 링크는 전부 content.js에서 그때그때 가져옵니다.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90688" y="3913632"/>
            <a:ext cx="3831336" cy="1883664"/>
          </a:xfrm>
          <a:prstGeom prst="roundRect">
            <a:avLst>
              <a:gd name="adj" fmla="val 291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01584" y="409651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19872" y="4425696"/>
            <a:ext cx="31729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luanlu.course.v1 — 스텝별 통과 기준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luanlu.progress.v1 — 이론 모듈 완료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luanlu.diary.v1 — 연습일지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시 content.js의 데이터 스키마를 그대로 DB 테이블로 옮기면 됩니다 (기획서 Phase 2)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근거와 저작권 가드레일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75304" cy="2615184"/>
          </a:xfrm>
          <a:prstGeom prst="roundRect">
            <a:avLst>
              <a:gd name="adj" fmla="val 2098"/>
            </a:avLst>
          </a:prstGeom>
          <a:solidFill>
            <a:srgbClr val="2A2F38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194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2140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이론의 근거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59689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Berklee 화성학과 Mark Levine의 재즈 피아노 교재를 기준으로 작성.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· 가이드톤 · 루트리스 A/B · 드롭2 · 비밥 스케일 · 마이너 ii–V–i의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음이름까지 대조 검증했습니다.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920240"/>
            <a:ext cx="3575304" cy="2615184"/>
          </a:xfrm>
          <a:prstGeom prst="roundRect">
            <a:avLst>
              <a:gd name="adj" fmla="val 209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194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BA478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5464" y="212140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싣지 않는 것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9689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멜로디와 리드시트는 저작권 보호 대상이므로 수록하지 않습니다.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보유한 리얼북으로 멜로디를 읽습니다.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75304" cy="2615184"/>
          </a:xfrm>
          <a:prstGeom prst="roundRect">
            <a:avLst>
              <a:gd name="adj" fmla="val 2098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21945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79C098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212140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싣는 것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596896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진행(사실)과 자체 화성 분석만 제공합니다.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음원·강의는 재호스팅 없이 실제 유튜브 링크로만 연결합니다.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5096" cy="1060704"/>
          </a:xfrm>
          <a:prstGeom prst="roundRect">
            <a:avLst>
              <a:gd name="adj" fmla="val 5172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919472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큐레이션의 성격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230368"/>
            <a:ext cx="10396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선곡 · 음반 · 강의는 일반적으로 공유되는 재즈 정전에 기반한 자체 구성입니다. 우리는 콘텐츠 제작자가 아니라 지도 제작자입니다.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유료화 시에도 그대로 유지되는 구조 — 저작물 재호스팅이 한 건도 없습니다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에이전트로 교차 검증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사람이 아니라, 배우는 사람과 가르치는 사람의 눈으로 다시 봤습니다.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44668" cy="3474720"/>
          </a:xfrm>
          <a:prstGeom prst="roundRect">
            <a:avLst>
              <a:gd name="adj" fmla="val 1579"/>
            </a:avLst>
          </a:prstGeom>
          <a:solidFill>
            <a:srgbClr val="343A44"/>
          </a:solidFill>
          <a:ln w="9525">
            <a:solidFill>
              <a:srgbClr val="9BBB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66544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루아 페르소나 에이전트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87168"/>
            <a:ext cx="4686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수강생의 눈으로 서비스를 따라가며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이해됨 / 막힘, 막힌 이유, 설명 누락,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아하 순간을 리포트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950208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발견된 대표 갭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42816"/>
            <a:ext cx="4649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가이드톤에서 루트가 예고 없이 사라져 혼란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스윙·리듬이 정적 텍스트뿐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무서운 심볼에 건반 예시 없음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883664"/>
            <a:ext cx="5344668" cy="3474720"/>
          </a:xfrm>
          <a:prstGeom prst="roundRect">
            <a:avLst>
              <a:gd name="adj" fmla="val 1579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6540" y="2066544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재즈 교수 리뷰어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06540" y="2487168"/>
            <a:ext cx="4686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Berklee / Mark Levine 기준으로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정확성과 커리큘럼 완결성을 채점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06540" y="3950208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발견된 대표 갭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24828" y="4242816"/>
            <a:ext cx="46497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7→3 반음 해결의 과잉일반화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가이드톤 → 루트리스 급점프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클래식 학습자 최대 장벽인 블루스 부재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522976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2A2F38"/>
          </a:solidFill>
          <a:ln w="9525">
            <a:solidFill>
              <a:srgbClr val="79C0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522976"/>
            <a:ext cx="10396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9C0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발견된 10개 갭을 전부 반영 </a:t>
            </a:r>
            <a:pPr indent="0" marL="0">
              <a:buNone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블루스 모듈 신설, 루트리스 다리 스텝 추가, 스윙 필 확장, Autumn Leaves 종결 수정 등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상세: docs/02_test_report.md · 콘텐츠를 늘릴 때마다 재실행하는 것을 권장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011680"/>
            <a:ext cx="8595360" cy="8595360"/>
          </a:xfrm>
          <a:prstGeom prst="roundRect">
            <a:avLst>
              <a:gd name="adj" fmla="val 5319"/>
            </a:avLst>
          </a:prstGeom>
          <a:solidFill>
            <a:srgbClr val="2A2F38">
              <a:alpha val="50000"/>
            </a:srgbClr>
          </a:solidFill>
          <a:ln w="12700">
            <a:solidFill>
              <a:srgbClr val="2024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1600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2999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MANUAL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31012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매뉴얼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422452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할 일은 하나입니다.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스텝을 열고, 적힌 대로 연습하고, 통과 기준을 체크한다.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83664"/>
            <a:ext cx="5344668" cy="2103120"/>
          </a:xfrm>
          <a:prstGeom prst="roundRect">
            <a:avLst>
              <a:gd name="adj" fmla="val 260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066544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방법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87168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쉬운 방법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432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을 더블클릭 — 설치·빌드 불필요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72384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방법 (진도 저장이 가장 안정적)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346704"/>
            <a:ext cx="4686300" cy="475488"/>
          </a:xfrm>
          <a:prstGeom prst="roundRect">
            <a:avLst>
              <a:gd name="adj" fmla="val 11538"/>
            </a:avLst>
          </a:prstGeom>
          <a:solidFill>
            <a:srgbClr val="20242C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3346704"/>
            <a:ext cx="4393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C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http.server 8777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7356" y="1883664"/>
            <a:ext cx="5344668" cy="2103120"/>
          </a:xfrm>
          <a:prstGeom prst="roundRect">
            <a:avLst>
              <a:gd name="adj" fmla="val 260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6540" y="2066544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4828" y="2505456"/>
            <a:ext cx="46497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건반 또는 피아노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메트로놈 (앱·기기 무관)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보유한 리얼북 — 멜로디는 여기서 읽습니다 (STEP 13부터 필요)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— 인터넷은 유튜브 링크를 열 때만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11055096" cy="1700784"/>
          </a:xfrm>
          <a:prstGeom prst="roundRect">
            <a:avLst>
              <a:gd name="adj" fmla="val 3226"/>
            </a:avLst>
          </a:prstGeom>
          <a:solidFill>
            <a:srgbClr val="2A2F38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4352544"/>
            <a:ext cx="10396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열었을 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18304"/>
            <a:ext cx="103601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홈의 「여기서 시작」 카드에 STEP 1(진단)이 이미 지정돼 있습니다 — 고를 필요 없습니다.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콘텐츠를 수정했는데 화면이 그대로면 Ctrl+Shift+R (하드 새로고침).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진도·일지는 이 브라우저에만 저장됩니다. 다른 기기와 동기화되지 않습니다.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라이브러리·CDN·계정 없이 동작합니다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메뉴는 5개가 전부입니다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전환의 사다리 · 테크닉 이론 · 곡 분해는 별도 메뉴가 아니라 각 스텝 안에 접혀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11055096" cy="694944"/>
          </a:xfrm>
          <a:prstGeom prst="roundRect">
            <a:avLst>
              <a:gd name="adj" fmla="val 7895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939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38528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145536" y="193852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스텝 하나 + 전체 진행률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87184" y="1938528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여기부터. 「이어서 하기」만 누르면 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11055096" cy="694944"/>
          </a:xfrm>
          <a:prstGeom prst="roundRect">
            <a:avLst>
              <a:gd name="adj" fmla="val 7895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8986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0242C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743200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코스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45536" y="27432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21스텝의 지도 + 사다리 · 심화 · 감상 · 강의 전체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87184" y="2743200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스텝을 눌러 펼치고 연습 → 통과 기준 체크 → 다음.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47872"/>
            <a:ext cx="11055096" cy="694944"/>
          </a:xfrm>
          <a:prstGeom prst="roundRect">
            <a:avLst>
              <a:gd name="adj" fmla="val 789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033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0242C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B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3547872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진도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145536" y="354787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막별 진행률 + 이론 모듈 체크리스트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3547872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스텝을 통과하면 자동 반영됩니다.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352544"/>
            <a:ext cx="11055096" cy="694944"/>
          </a:xfrm>
          <a:prstGeom prst="roundRect">
            <a:avLst>
              <a:gd name="adj" fmla="val 789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5079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0242C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A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4352544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연습일지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145536" y="435254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기록 · 체크리스트 · 메모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87184" y="4352544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검수용 복사로 채팅에 붙여넣어 피드백받기.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157216"/>
            <a:ext cx="11055096" cy="694944"/>
          </a:xfrm>
          <a:prstGeom prst="roundRect">
            <a:avLst>
              <a:gd name="adj" fmla="val 7895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312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0242C"/>
          </a:solidFill>
          <a:ln w="12700">
            <a:solidFill>
              <a:srgbClr val="B4AE9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A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353312" y="5157216"/>
            <a:ext cx="1737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이용안내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145536" y="515721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· 화면 기호 · 자주 막히는 질문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87184" y="5157216"/>
            <a:ext cx="4197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한 번만 읽으면 됩니다.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9개를 5개로 줄인 이유 — 볼 것을 고르는 일 자체가 좌초의 원인이었습니다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사용법 · 5단계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다섯 개 말고는 아무것도 안 해도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2079346" cy="2450592"/>
          </a:xfrm>
          <a:prstGeom prst="roundRect">
            <a:avLst>
              <a:gd name="adj" fmla="val 2639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8001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8001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79776"/>
            <a:ext cx="1713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홈을 연다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456432"/>
            <a:ext cx="17135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「이어서 하기」 카드에 오늘 할 스텝이 이미 정해져 있습니다.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5418" y="1956816"/>
            <a:ext cx="146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10866" y="1956816"/>
            <a:ext cx="2079346" cy="2450592"/>
          </a:xfrm>
          <a:prstGeom prst="roundRect">
            <a:avLst>
              <a:gd name="adj" fmla="val 263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1938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193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93746" y="2779776"/>
            <a:ext cx="1713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스텝 한 장만 본다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93746" y="3456432"/>
            <a:ext cx="17135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이걸 → 드릴 → 손 모양 → 곡 구간 → 강의 → 오늘 들을 것.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99355" y="1956816"/>
            <a:ext cx="146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54803" y="1956816"/>
            <a:ext cx="2079346" cy="2450592"/>
          </a:xfrm>
          <a:prstGeom prst="roundRect">
            <a:avLst>
              <a:gd name="adj" fmla="val 263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65876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6587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37683" y="2779776"/>
            <a:ext cx="1713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 시간대로 실행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237683" y="3456432"/>
            <a:ext cx="17135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드릴의 3분·7분·5분을 지킵니다. 하루 15~40분이면 충분합니다.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43293" y="1956816"/>
            <a:ext cx="146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98741" y="1956816"/>
            <a:ext cx="2079346" cy="2450592"/>
          </a:xfrm>
          <a:prstGeom prst="roundRect">
            <a:avLst>
              <a:gd name="adj" fmla="val 263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9814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09814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81621" y="2779776"/>
            <a:ext cx="1713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3개를 체크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81621" y="3456432"/>
            <a:ext cx="17135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되면 다음 스텝이 열립니다. 며칠~2주 걸리는 게 정상입니다.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87230" y="1956816"/>
            <a:ext cx="146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42678" y="1956816"/>
            <a:ext cx="2079346" cy="2450592"/>
          </a:xfrm>
          <a:prstGeom prst="roundRect">
            <a:avLst>
              <a:gd name="adj" fmla="val 263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53751" y="2176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53751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25558" y="2779776"/>
            <a:ext cx="17135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연습일지를 남긴다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25558" y="3456432"/>
            <a:ext cx="17135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 스텝으로 연습일지 쓰기」로 드릴이 항목으로 자동 입력됩니다.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645152"/>
            <a:ext cx="11055096" cy="1225296"/>
          </a:xfrm>
          <a:prstGeom prst="roundRect">
            <a:avLst>
              <a:gd name="adj" fmla="val 4478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" y="4809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추천 루틴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138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" y="5394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스텝 하나. 새 스텝을 서둘러 열지 않기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53712" y="5138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전후 5분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53712" y="5394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스텝의 「오늘 들을 것」 1곡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5138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11312" y="5394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점검 + 일지를 복사해 검수받기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넘어가는 기준은 날짜가 아니라 통과 기준입니다 — 한 스텝에 2주가 걸려도 정상입니다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A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화면 읽는 법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(Autumn Leaves)의 실제 화면 구성입니다. 위에서 아래로만 내려가면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35424" y="1938528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손이 노래하기 시작한다 / STEP 8 / 21 · 하루 25분 · 1~2주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이걸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359152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스텝과의 연결 — 여기서 흐름을 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287121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7797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연습하세요 · 총 25분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779776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 4개: 5분 반음 해결 표시 / 8분 메이저 파트 / 7분 마이너 파트 / 5분 8마디 통과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291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9BBBD3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3200400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가이드톤 건반 그림 (파란 건반 = 왼손)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71246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9BBBD3"/>
          </a:solidFill>
          <a:ln w="12700">
            <a:solidFill>
              <a:srgbClr val="9BBB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621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어느 구간을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3621024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A섹션 1–8마디 · Am7–D7–Gmaj7–Cmaj7–F♯m7♭5–B7–Em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1330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BA478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041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강의는 이 한 편만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4041648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Studio · 가이드톤 라인 &amp; 보이스리딩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5537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BA478"/>
          </a:solidFill>
          <a:ln w="12700">
            <a:solidFill>
              <a:srgbClr val="DBA4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462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들을 것 · 1곡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35424" y="4462272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 Evans — Waltz for Debby (쿨 재즈)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49743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B4AE9F"/>
          </a:solidFill>
          <a:ln w="12700">
            <a:solidFill>
              <a:srgbClr val="B4AE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4882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4882896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Em은 3화음인데 가이드톤이 뭐죠? / F♯m7♭5에서 손이 멈춘다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53949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79C098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5303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— 이게 되면 다음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35424" y="5303520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3개 → 다음 스텝 열림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" y="581558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" y="5724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 (기본 접힘)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35424" y="5724144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전문 · 사다리 rung 3 전문 · 곡 전문 Autumn Leaves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곡이 없는 스텝(1·2·3·6·7·10·11)에는 「곡의 어느 구간을」이 빠집니다 — 21개 중 14개에 곡이 붙습니다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PROGRESSION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다음으로 넘어가나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서비스에서 진도는 날짜가 아니라 통과 기준으로 결정됩니다.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44668" cy="2852928"/>
          </a:xfrm>
          <a:prstGeom prst="roundRect">
            <a:avLst>
              <a:gd name="adj" fmla="val 1923"/>
            </a:avLst>
          </a:prstGeom>
          <a:solidFill>
            <a:srgbClr val="343A44"/>
          </a:solidFill>
          <a:ln w="9525">
            <a:solidFill>
              <a:srgbClr val="79C0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9C0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 3개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50592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(가이드톤)의 실제 통과 기준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2798064"/>
            <a:ext cx="4686300" cy="438912"/>
          </a:xfrm>
          <a:prstGeom prst="roundRect">
            <a:avLst>
              <a:gd name="adj" fmla="val 12500"/>
            </a:avLst>
          </a:prstGeom>
          <a:solidFill>
            <a:srgbClr val="20242C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" y="28986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0242C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08176" y="2798064"/>
            <a:ext cx="41193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Dm7–G7–Cmaj7을 가이드톤 2성부로 이을 수 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3328416"/>
            <a:ext cx="4686300" cy="438912"/>
          </a:xfrm>
          <a:prstGeom prst="roundRect">
            <a:avLst>
              <a:gd name="adj" fmla="val 12500"/>
            </a:avLst>
          </a:prstGeom>
          <a:solidFill>
            <a:srgbClr val="20242C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34290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0242C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08176" y="3328416"/>
            <a:ext cx="41193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음이 움직이고 어느 음이 남는지 말로 설명할 수 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6112" y="3858768"/>
            <a:ext cx="4686300" cy="438912"/>
          </a:xfrm>
          <a:prstGeom prst="roundRect">
            <a:avLst>
              <a:gd name="adj" fmla="val 12500"/>
            </a:avLst>
          </a:prstGeom>
          <a:solidFill>
            <a:srgbClr val="20242C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39593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0242C"/>
          </a:solidFill>
          <a:ln w="12700">
            <a:solidFill>
              <a:srgbClr val="79C0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08176" y="3858768"/>
            <a:ext cx="41193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위치가 코드가 바뀌어도 거의 그대로다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389120"/>
            <a:ext cx="4686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C0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3개가 모두 체크되면 다음 스텝이 열립니다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7356" y="1920240"/>
            <a:ext cx="5344668" cy="2852928"/>
          </a:xfrm>
          <a:prstGeom prst="roundRect">
            <a:avLst>
              <a:gd name="adj" fmla="val 192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654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체크하면 일어나는 일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06540" y="25237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배너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7052" y="2523744"/>
            <a:ext cx="2875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스텝 이름이 바로 안내됩니다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06540" y="30175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갱신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7052" y="3017520"/>
            <a:ext cx="2875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「이어서 하기」가 다음 스텝으로 바뀝니다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06540" y="35112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반영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17052" y="3511296"/>
            <a:ext cx="2875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막별 진행률과 전체 퍼센트가 올라갑니다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06540" y="4005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자동 체크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17052" y="4005072"/>
            <a:ext cx="2875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이론 모듈이 함께 완료 처리됩니다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956048"/>
            <a:ext cx="11055096" cy="1133856"/>
          </a:xfrm>
          <a:prstGeom prst="roundRect">
            <a:avLst>
              <a:gd name="adj" fmla="val 4839"/>
            </a:avLst>
          </a:prstGeom>
          <a:solidFill>
            <a:srgbClr val="2A2F38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5120640"/>
            <a:ext cx="10396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되돌아가도 됩니다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431536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13에서 왼손이 멈추면 STEP 8로 3일 돌아가세요. 후퇴가 아니라 정상 경로입니다. 뒤 스텝을 미리 봐도 되지만(잠겨 있지 않습니다), 연습은 순서대로 하세요 — 각 스텝은 앞 스텝의 결과를 재료로 씁니다.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진도는 브라우저(localStorage)에 저장됩니다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연습일지 → 검수 루프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연습하는 사람에게 없는 것은 이론이 아니라 피드백입니다. 그 자리를 채우는 장치입니다.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2079346" cy="2029968"/>
          </a:xfrm>
          <a:prstGeom prst="roundRect">
            <a:avLst>
              <a:gd name="adj" fmla="val 270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6289" y="215798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96289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06624"/>
            <a:ext cx="1750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연습한다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90672"/>
            <a:ext cx="17501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스텝의 드릴대로 15~40분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0866" y="1956816"/>
            <a:ext cx="2079346" cy="2029968"/>
          </a:xfrm>
          <a:prstGeom prst="roundRect">
            <a:avLst>
              <a:gd name="adj" fmla="val 270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0226" y="215798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0226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75458" y="2706624"/>
            <a:ext cx="1750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일지를 연다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5458" y="3090672"/>
            <a:ext cx="17501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「연습일지 쓰기」 버튼 — 드릴이 항목으로 자동 입력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54803" y="1956816"/>
            <a:ext cx="2079346" cy="2029968"/>
          </a:xfrm>
          <a:prstGeom prst="roundRect">
            <a:avLst>
              <a:gd name="adj" fmla="val 270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4164" y="215798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84164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9395" y="2706624"/>
            <a:ext cx="1750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체크하고 적는다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19395" y="3090672"/>
            <a:ext cx="17501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한 것만 체크 + 막힌 곳을 메모에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8741" y="1956816"/>
            <a:ext cx="2079346" cy="2029968"/>
          </a:xfrm>
          <a:prstGeom prst="roundRect">
            <a:avLst>
              <a:gd name="adj" fmla="val 2703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102" y="215798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28102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63333" y="2706624"/>
            <a:ext cx="1750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복사한다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63333" y="3090672"/>
            <a:ext cx="17501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「선생님 검수용 복사」 버튼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42678" y="1956816"/>
            <a:ext cx="2079346" cy="2029968"/>
          </a:xfrm>
          <a:prstGeom prst="roundRect">
            <a:avLst>
              <a:gd name="adj" fmla="val 2703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72039" y="215798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D3AC55"/>
          </a:solidFill>
          <a:ln w="12700">
            <a:solidFill>
              <a:srgbClr val="D3AC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72039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2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07270" y="2706624"/>
            <a:ext cx="1750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붙여넣는다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707270" y="3090672"/>
            <a:ext cx="175016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채팅에 붙여넣으면 재즈 교수 관점의 처방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24528"/>
            <a:ext cx="11055096" cy="1645920"/>
          </a:xfrm>
          <a:prstGeom prst="roundRect">
            <a:avLst>
              <a:gd name="adj" fmla="val 3333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" y="4407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일지에 남기는 것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47365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· 연습시간 · 템포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01091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기록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39312" y="47365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초점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639312" y="501091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스텝이 칩으로 제시됨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47365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항목 5개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501091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= 완료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25712" y="473659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501091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느낀 점 / 막힌 곳 / 질문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" y="5376672"/>
            <a:ext cx="10396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구체적일수록 처방이 정확해집니다. 예: "G7에서 셸이 흔들림. 3도(B) 위치가 헷갈림."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luanlu.diary.v1 — 기록은 편집·삭제할 수 있고 이 브라우저에 남습니다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21스텝 전체 지도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8470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18470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47088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— 내 손이 지금 어디 있나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58284" y="184708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125212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249424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2494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224942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249424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보이싱 — 왼손 3음으로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58284" y="224942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25212" y="224942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651760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265176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2651760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셸을 12키로 — 5도권 한 바퀴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58284" y="265176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25212" y="26517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3054096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30540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305409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3054096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곡에 적용 ① Fly Me to the Moon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58284" y="305409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125212" y="305409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 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456432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" y="3456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" y="34564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3456432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스윙과 찰스턴 — 언제 치느냐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58284" y="345643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125212" y="345643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 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3858768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" y="3858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" y="3858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481328" y="3858768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가이드톤 — 손이 점프를 멈춘다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58284" y="385876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125212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" y="4261104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944" y="4261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060704" y="426110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481328" y="4261104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7→3 해결을 12키로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58284" y="426110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125212" y="42611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" y="4663440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944" y="4663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" y="466344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481328" y="4663440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곡에 적용 ② Autumn Leaves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58284" y="466344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125212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Autumn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6928" y="5065776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4944" y="5065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1060704" y="5065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481328" y="5065776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곡에 적용 ③ All of Me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558284" y="506577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125212" y="506577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of Me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6928" y="5468112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4944" y="54681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060704" y="546811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481328" y="5468112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루트리스 A형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4558284" y="54681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125212" y="54681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66928" y="5870448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4944" y="5870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1060704" y="587044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481328" y="5870448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B형과 A↔B 교대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4558284" y="587044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5125212" y="587044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04204" y="1847088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332220" y="18470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6697980" y="184708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7118604" y="1847088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곡에 적용 ④ Fly Me 전곡 루트리스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10195560" y="184708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30분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0762488" y="18470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 Me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04204" y="2249424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332220" y="22494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6697980" y="224942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7118604" y="2249424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오른손이 들어온다 — 멜로디+컴핑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10195560" y="224942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30분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0762488" y="224942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Autumn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04204" y="2651760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332220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6697980" y="265176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118604" y="2651760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컴핑의 완성 — 리듬과 여백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10195560" y="265176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10762488" y="265176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Satin Doll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04204" y="3054096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332220" y="30540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6697980" y="305409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7118604" y="3054096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오른손도 화음으로 — 드롭2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10195560" y="305409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10762488" y="305409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Train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04204" y="3456432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332220" y="34564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697980" y="34564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7118604" y="3456432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솔로 — 코드톤 아르페지오</a:t>
            </a:r>
            <a:endParaRPr lang="en-US" sz="1050" dirty="0"/>
          </a:p>
        </p:txBody>
      </p:sp>
      <p:sp>
        <p:nvSpPr>
          <p:cNvPr id="98" name="Text 96"/>
          <p:cNvSpPr txBox="1"/>
          <p:nvPr/>
        </p:nvSpPr>
        <p:spPr>
          <a:xfrm>
            <a:off x="10195560" y="345643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10762488" y="345643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 What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204204" y="3858768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332220" y="3858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102" name="Text 100"/>
          <p:cNvSpPr txBox="1"/>
          <p:nvPr/>
        </p:nvSpPr>
        <p:spPr>
          <a:xfrm>
            <a:off x="6697980" y="38587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103" name="Text 101"/>
          <p:cNvSpPr txBox="1"/>
          <p:nvPr/>
        </p:nvSpPr>
        <p:spPr>
          <a:xfrm>
            <a:off x="7118604" y="3858768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가이드톤을 즉흥의 닻으로</a:t>
            </a:r>
            <a:endParaRPr lang="en-US" sz="1050" dirty="0"/>
          </a:p>
        </p:txBody>
      </p:sp>
      <p:sp>
        <p:nvSpPr>
          <p:cNvPr id="104" name="Text 102"/>
          <p:cNvSpPr txBox="1"/>
          <p:nvPr/>
        </p:nvSpPr>
        <p:spPr>
          <a:xfrm>
            <a:off x="10195560" y="3858768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105" name="Text 103"/>
          <p:cNvSpPr txBox="1"/>
          <p:nvPr/>
        </p:nvSpPr>
        <p:spPr>
          <a:xfrm>
            <a:off x="10762488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Autumn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204204" y="4261104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332220" y="4261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108" name="Text 106"/>
          <p:cNvSpPr txBox="1"/>
          <p:nvPr/>
        </p:nvSpPr>
        <p:spPr>
          <a:xfrm>
            <a:off x="6697980" y="426110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7118604" y="4261104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코드–스케일로 재료를 넓힌다</a:t>
            </a:r>
            <a:endParaRPr lang="en-US" sz="1050" dirty="0"/>
          </a:p>
        </p:txBody>
      </p:sp>
      <p:sp>
        <p:nvSpPr>
          <p:cNvPr id="110" name="Text 108"/>
          <p:cNvSpPr txBox="1"/>
          <p:nvPr/>
        </p:nvSpPr>
        <p:spPr>
          <a:xfrm>
            <a:off x="10195560" y="426110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10762488" y="42611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 Bossa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204204" y="4663440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332220" y="4663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114" name="Text 112"/>
          <p:cNvSpPr txBox="1"/>
          <p:nvPr/>
        </p:nvSpPr>
        <p:spPr>
          <a:xfrm>
            <a:off x="6697980" y="466344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7118604" y="4663440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블루스 12마디 — 잼의 공통어</a:t>
            </a:r>
            <a:endParaRPr lang="en-US" sz="1050" dirty="0"/>
          </a:p>
        </p:txBody>
      </p:sp>
      <p:sp>
        <p:nvSpPr>
          <p:cNvPr id="116" name="Text 114"/>
          <p:cNvSpPr txBox="1"/>
          <p:nvPr/>
        </p:nvSpPr>
        <p:spPr>
          <a:xfrm>
            <a:off x="10195560" y="466344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25분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10762488" y="46634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B♭ Blues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204204" y="5065776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6332220" y="50657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120" name="Text 118"/>
          <p:cNvSpPr txBox="1"/>
          <p:nvPr/>
        </p:nvSpPr>
        <p:spPr>
          <a:xfrm>
            <a:off x="6697980" y="506577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121" name="Text 119"/>
          <p:cNvSpPr txBox="1"/>
          <p:nvPr/>
        </p:nvSpPr>
        <p:spPr>
          <a:xfrm>
            <a:off x="7118604" y="5065776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— 인트로 · 엔딩 · 턴어라운드</a:t>
            </a:r>
            <a:endParaRPr lang="en-US" sz="1050" dirty="0"/>
          </a:p>
        </p:txBody>
      </p:sp>
      <p:sp>
        <p:nvSpPr>
          <p:cNvPr id="122" name="Text 120"/>
          <p:cNvSpPr txBox="1"/>
          <p:nvPr/>
        </p:nvSpPr>
        <p:spPr>
          <a:xfrm>
            <a:off x="10195560" y="506577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10762488" y="506577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Autumn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204204" y="5468112"/>
            <a:ext cx="5417820" cy="347472"/>
          </a:xfrm>
          <a:prstGeom prst="roundRect">
            <a:avLst>
              <a:gd name="adj" fmla="val 15789"/>
            </a:avLst>
          </a:prstGeom>
          <a:solidFill>
            <a:srgbClr val="343A44"/>
          </a:solidFill>
          <a:ln w="9525">
            <a:solidFill>
              <a:srgbClr val="D3AC55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332220" y="54681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126" name="Text 124"/>
          <p:cNvSpPr txBox="1"/>
          <p:nvPr/>
        </p:nvSpPr>
        <p:spPr>
          <a:xfrm>
            <a:off x="6697980" y="546811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  <p:sp>
        <p:nvSpPr>
          <p:cNvPr id="127" name="Text 125"/>
          <p:cNvSpPr txBox="1"/>
          <p:nvPr/>
        </p:nvSpPr>
        <p:spPr>
          <a:xfrm>
            <a:off x="7118604" y="5468112"/>
            <a:ext cx="3040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— Autumn Leaves 처음부터 끝까지</a:t>
            </a:r>
            <a:endParaRPr lang="en-US" sz="1050" dirty="0"/>
          </a:p>
        </p:txBody>
      </p:sp>
      <p:sp>
        <p:nvSpPr>
          <p:cNvPr id="128" name="Text 126"/>
          <p:cNvSpPr txBox="1"/>
          <p:nvPr/>
        </p:nvSpPr>
        <p:spPr>
          <a:xfrm>
            <a:off x="10195560" y="546811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40분</a:t>
            </a:r>
            <a:endParaRPr lang="en-US" sz="900" dirty="0"/>
          </a:p>
        </p:txBody>
      </p:sp>
      <p:sp>
        <p:nvSpPr>
          <p:cNvPr id="129" name="Text 127"/>
          <p:cNvSpPr txBox="1"/>
          <p:nvPr/>
        </p:nvSpPr>
        <p:spPr>
          <a:xfrm>
            <a:off x="10762488" y="54681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B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Autumn</a:t>
            </a:r>
            <a:endParaRPr lang="en-US" sz="900" dirty="0"/>
          </a:p>
        </p:txBody>
      </p:sp>
      <p:sp>
        <p:nvSpPr>
          <p:cNvPr id="130" name="Text 128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 · 스텝 · 제목 · 하루 분량 · 적용 곡 — 굵게 표시된 STEP 6과 21이 코스의 분기점과 도착점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막힐 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029968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봐야 할지 모르겠다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377440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→ 「이어서 하기」. 그 한 장 말고는 볼 게 없습니다.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4204" y="1920240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1948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71132" y="2029968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용어가 낯설다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71132" y="2377440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스텝 하단 「더 깊게 → 이론 전문」 펼치기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62656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072384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스텝이 왜 필요한지 모르겠다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419856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상단 「왜 지금 이걸」 박스에 앞뒤 연결이 적혀 있습니다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4204" y="2962656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194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71132" y="3072384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곡에서 뭘 하라는 건지 모르겠다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71132" y="3419856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「곡의 어느 구간을」 박스 — 마디와 할 일이 구체적으로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05072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114800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 전체가 궁금하다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4462272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「더 깊게 → 곡 전문」 — 폼·화성·왼손·오른손·즉흥·추천 연주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4204" y="4005072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194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71132" y="4114800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안 그려진다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71132" y="4462272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스텝의 「오늘 들을 것」 1곡. 더 듣고 싶으면 코스 하단 시대별 감상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047488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5157216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아직 불안하다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5504688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코스 하단 「코스 시작 전」 3모듈 (7th 코드·심볼·다이어토닉)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04204" y="5047488"/>
            <a:ext cx="5417820" cy="914400"/>
          </a:xfrm>
          <a:prstGeom prst="roundRect">
            <a:avLst>
              <a:gd name="adj" fmla="val 6000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1948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71132" y="5157216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안 바뀐다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71132" y="5504688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Ctrl+Shift+R 하드 새로고침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자세히: 앱의 「이용안내」 메뉴 · docs/04_getting_started_manual.md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 이후, 그리고 다음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21을 완주하면 코스는 끝입니다. 그다음은 두 갈래입니다.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44668" cy="2487168"/>
          </a:xfrm>
          <a:prstGeom prst="roundRect">
            <a:avLst>
              <a:gd name="adj" fmla="val 2206"/>
            </a:avLst>
          </a:prstGeom>
          <a:solidFill>
            <a:srgbClr val="343A44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66544"/>
            <a:ext cx="4686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AC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다음 곡으로 사이클 반복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50592"/>
            <a:ext cx="46863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「첫곡」 배지가 붙은 쉬운 조 곡을 골라 같은 절차를 그대로 적용합니다. 한 곡당 3~5주면 레퍼토리가 하나씩 늘어납니다.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3127248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312724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3127248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312724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8 가이드톤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3127248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3127248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12 루트리스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3657600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6576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13 멜로디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33472" y="3657600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33472" y="36576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17 솔로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70832" y="3657600"/>
            <a:ext cx="1591056" cy="420624"/>
          </a:xfrm>
          <a:prstGeom prst="roundRect">
            <a:avLst>
              <a:gd name="adj" fmla="val 13043"/>
            </a:avLst>
          </a:prstGeom>
          <a:solidFill>
            <a:srgbClr val="20242C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0832" y="365760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20 완주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77356" y="1883664"/>
            <a:ext cx="5344668" cy="2487168"/>
          </a:xfrm>
          <a:prstGeom prst="roundRect">
            <a:avLst>
              <a:gd name="adj" fmla="val 2206"/>
            </a:avLst>
          </a:prstGeom>
          <a:solidFill>
            <a:srgbClr val="2A2F38"/>
          </a:solidFill>
          <a:ln w="9525">
            <a:solidFill>
              <a:srgbClr val="454C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06540" y="2066544"/>
            <a:ext cx="4686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심화 트랙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06540" y="2450592"/>
            <a:ext cx="4686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없이 관심 가는 것부터. 코스가 아니라 취향입니다.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4828" y="29169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833F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62572" y="2834640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비밥 스케일 &amp; ii–V–I 릭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4828" y="3209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833F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62572" y="3127248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채보 (Transcription)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4828" y="35021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833F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62572" y="3419856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코드 / 락트핸즈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24828" y="37947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833F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62572" y="371246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스트라이드 · 워킹베이스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24828" y="40873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9A833F"/>
          </a:solidFill>
          <a:ln w="12700">
            <a:solidFill>
              <a:srgbClr val="9A83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62572" y="4005072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리하모니제이션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4553712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2A2F38"/>
          </a:solidFill>
          <a:ln w="9525">
            <a:solidFill>
              <a:srgbClr val="9A83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4718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3A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서비스 확장 경로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" y="5047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" y="5303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+ Supabase + PWA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53712" y="5047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53712" y="5303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구독 결제 게이트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11312" y="5047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5303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백킹트랙 · 편곡 모듈 (R&amp;B · 펑크 · 가요)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276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content.js의 데이터 스키마를 그대로 DB 테이블로 옮기면 됩니다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루앤루 기획안 &amp; 사용 매뉴얼</dc:title>
  <dc:subject>PptxGenJS Presentation</dc:subject>
  <dc:creator>루앤루 · Roots &amp; Routes</dc:creator>
  <cp:lastModifiedBy>루앤루 · Roots &amp; Routes</cp:lastModifiedBy>
  <cp:revision>1</cp:revision>
  <dcterms:created xsi:type="dcterms:W3CDTF">2026-09-04T05:39:53Z</dcterms:created>
  <dcterms:modified xsi:type="dcterms:W3CDTF">2026-09-04T05:39:53Z</dcterms:modified>
</cp:coreProperties>
</file>